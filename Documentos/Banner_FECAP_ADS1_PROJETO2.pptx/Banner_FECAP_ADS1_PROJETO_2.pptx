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8800425" cy="43200638"/>
  <p:notesSz cx="6858000" cy="9144000"/>
  <p:embeddedFontLst>
    <p:embeddedFont>
      <p:font typeface="Open Sans" panose="020B0606030504020204" pitchFamily="34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i+9yr4mDS8zg5+kfXTqvtBuST6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45" autoAdjust="0"/>
    <p:restoredTop sz="94660"/>
  </p:normalViewPr>
  <p:slideViewPr>
    <p:cSldViewPr snapToGrid="0">
      <p:cViewPr>
        <p:scale>
          <a:sx n="33" d="100"/>
          <a:sy n="33" d="100"/>
        </p:scale>
        <p:origin x="744" y="-1590"/>
      </p:cViewPr>
      <p:guideLst>
        <p:guide orient="horz" pos="4366"/>
        <p:guide pos="54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customschemas.google.com/relationships/presentationmetadata" Target="meta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4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sz="7623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615823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marL="914400" lvl="1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marL="1371600" lvl="2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marL="1828800" lvl="3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marL="2286000" lvl="4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marL="2743200" lvl="5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marL="3200400" lvl="6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marL="3657600" lvl="7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marL="4114800" lvl="8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sz="838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615823" algn="l" rtl="0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sz="60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67436" algn="l" rtl="0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sz="53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19049" algn="l" rtl="0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sz="45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70599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4829695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 extrusionOk="0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l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 extrusionOk="0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16147"/>
            <a:ext cx="29304069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 extrusionOk="0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 extrusionOk="0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1084396" y="13184457"/>
            <a:ext cx="20464104" cy="13034120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avLst/>
              <a:gdLst/>
              <a:ahLst/>
              <a:cxnLst/>
              <a:rect l="l" t="t" r="r" b="b"/>
              <a:pathLst>
                <a:path w="1922704" h="1176995" extrusionOk="0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27180" y="30011217"/>
            <a:ext cx="13848538" cy="8263110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 extrusionOk="0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403306" y="30138544"/>
            <a:ext cx="12527228" cy="8125799"/>
            <a:chOff x="0" y="-314078"/>
            <a:chExt cx="8764870" cy="5685342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avLst/>
                <a:gdLst/>
                <a:ahLst/>
                <a:cxnLst/>
                <a:rect l="l" t="t" r="r" b="b"/>
                <a:pathLst>
                  <a:path w="1329056" h="814469" extrusionOk="0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 cmpd="sng">
                <a:solidFill>
                  <a:srgbClr val="0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6800" tIns="96800" rIns="96800" bIns="96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99" y="235141"/>
              <a:ext cx="6635674" cy="4333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62" b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/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916543" y="1525353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 extrusionOk="0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962400" y="1893654"/>
            <a:ext cx="19470628" cy="6994174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01005"/>
              </a:lnSpc>
            </a:pPr>
            <a:endParaRPr lang="pt-BR" sz="9600" dirty="0"/>
          </a:p>
        </p:txBody>
      </p:sp>
      <p:sp>
        <p:nvSpPr>
          <p:cNvPr id="116" name="Google Shape;116;p1"/>
          <p:cNvSpPr/>
          <p:nvPr/>
        </p:nvSpPr>
        <p:spPr>
          <a:xfrm>
            <a:off x="21014306" y="1712017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 extrusionOk="0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7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/>
          </a:p>
        </p:txBody>
      </p:sp>
      <p:grpSp>
        <p:nvGrpSpPr>
          <p:cNvPr id="119" name="Google Shape;119;p1"/>
          <p:cNvGrpSpPr/>
          <p:nvPr/>
        </p:nvGrpSpPr>
        <p:grpSpPr>
          <a:xfrm rot="-5400000">
            <a:off x="2494601" y="7477176"/>
            <a:ext cx="10206805" cy="14355430"/>
            <a:chOff x="0" y="-47625"/>
            <a:chExt cx="958980" cy="1348764"/>
          </a:xfrm>
        </p:grpSpPr>
        <p:sp>
          <p:nvSpPr>
            <p:cNvPr id="120" name="Google Shape;120;p1"/>
            <p:cNvSpPr/>
            <p:nvPr/>
          </p:nvSpPr>
          <p:spPr>
            <a:xfrm>
              <a:off x="0" y="0"/>
              <a:ext cx="958980" cy="1301139"/>
            </a:xfrm>
            <a:custGeom>
              <a:avLst/>
              <a:gdLst/>
              <a:ahLst/>
              <a:cxnLst/>
              <a:rect l="l" t="t" r="r" b="b"/>
              <a:pathLst>
                <a:path w="958980" h="1301139" extrusionOk="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"/>
          <p:cNvGrpSpPr/>
          <p:nvPr/>
        </p:nvGrpSpPr>
        <p:grpSpPr>
          <a:xfrm rot="-5400000">
            <a:off x="2616002" y="17805386"/>
            <a:ext cx="9963998" cy="14355430"/>
            <a:chOff x="0" y="-47625"/>
            <a:chExt cx="936167" cy="1348764"/>
          </a:xfrm>
        </p:grpSpPr>
        <p:sp>
          <p:nvSpPr>
            <p:cNvPr id="123" name="Google Shape;123;p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 extrusionOk="0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/>
          <p:nvPr/>
        </p:nvSpPr>
        <p:spPr>
          <a:xfrm>
            <a:off x="22527251" y="36801439"/>
            <a:ext cx="5609093" cy="5642282"/>
          </a:xfrm>
          <a:custGeom>
            <a:avLst/>
            <a:gdLst/>
            <a:ahLst/>
            <a:cxnLst/>
            <a:rect l="l" t="t" r="r" b="b"/>
            <a:pathLst>
              <a:path w="2943367" h="2960783" extrusionOk="0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-1" y="4700167"/>
            <a:ext cx="28813765" cy="177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34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MessierApp</a:t>
            </a:r>
            <a:endParaRPr dirty="0"/>
          </a:p>
        </p:txBody>
      </p:sp>
      <p:sp>
        <p:nvSpPr>
          <p:cNvPr id="127" name="Google Shape;127;p1"/>
          <p:cNvSpPr txBox="1"/>
          <p:nvPr/>
        </p:nvSpPr>
        <p:spPr>
          <a:xfrm>
            <a:off x="136933" y="6355587"/>
            <a:ext cx="27793601" cy="2051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Andr</a:t>
            </a:r>
            <a:r>
              <a:rPr lang="en-US" sz="4762" b="1" dirty="0">
                <a:latin typeface="Open Sans"/>
                <a:ea typeface="Open Sans"/>
                <a:cs typeface="Open Sans"/>
                <a:sym typeface="Open Sans"/>
              </a:rPr>
              <a:t>é Seiji Shiroma</a:t>
            </a: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Marcos Almeida </a:t>
            </a:r>
            <a:r>
              <a:rPr lang="en-US" sz="4762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Daloia</a:t>
            </a: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Fabio Augusto Camillo Rodrigues</a:t>
            </a:r>
            <a:r>
              <a:rPr lang="en-US" sz="4762" b="1" dirty="0"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/>
          </a:p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</a:t>
            </a:r>
            <a:r>
              <a:rPr lang="en-US" sz="47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Lucy Mari, Ronaldo Araujo, Renata Muniz, Aimar Martins, Eduardo Savino</a:t>
            </a:r>
            <a:endParaRPr dirty="0"/>
          </a:p>
        </p:txBody>
      </p:sp>
      <p:sp>
        <p:nvSpPr>
          <p:cNvPr id="130" name="Google Shape;130;p1"/>
          <p:cNvSpPr txBox="1"/>
          <p:nvPr/>
        </p:nvSpPr>
        <p:spPr>
          <a:xfrm>
            <a:off x="2561448" y="30828367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/>
          </a:p>
        </p:txBody>
      </p:sp>
      <p:sp>
        <p:nvSpPr>
          <p:cNvPr id="131" name="Google Shape;131;p1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/>
          </a:p>
        </p:txBody>
      </p:sp>
      <p:sp>
        <p:nvSpPr>
          <p:cNvPr id="132" name="Google Shape;132;p1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/>
          </a:p>
        </p:txBody>
      </p:sp>
      <p:sp>
        <p:nvSpPr>
          <p:cNvPr id="133" name="Google Shape;133;p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/>
          </a:p>
        </p:txBody>
      </p:sp>
      <p:sp>
        <p:nvSpPr>
          <p:cNvPr id="134" name="Google Shape;134;p1"/>
          <p:cNvSpPr txBox="1"/>
          <p:nvPr/>
        </p:nvSpPr>
        <p:spPr>
          <a:xfrm>
            <a:off x="15966975" y="31719851"/>
            <a:ext cx="11400000" cy="7705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pt-BR" sz="3200" dirty="0"/>
              <a:t>LUZ, Matheus Antonio da. Windie: jogos independentes por assinatura. 2022. 123 f. Trabalho de Conclusão de Curso - Graduação (Bacharel em Sistemas de Informação) - Câmpus Central - Sede: Anápolis - CET - Ciências Exatas e Tecnológicas Henrique Santillo, Universidade Estadual de Goiás, Anápolis, GO, 2022.</a:t>
            </a:r>
          </a:p>
          <a:p>
            <a:r>
              <a:rPr lang="pt-BR" sz="3200" dirty="0"/>
              <a:t> </a:t>
            </a:r>
          </a:p>
          <a:p>
            <a:r>
              <a:rPr lang="pt-BR" sz="3200" dirty="0"/>
              <a:t>SAKUDA, Luis Ojima; FORTIM, Ivelise (Org.). </a:t>
            </a:r>
            <a:r>
              <a:rPr lang="pt-BR" sz="3200" b="1" dirty="0"/>
              <a:t>Mapeamento da Indústria Brasileira de Jogos Digitais</a:t>
            </a:r>
            <a:r>
              <a:rPr lang="pt-BR" sz="3200" dirty="0"/>
              <a:t>. São Paulo: USP/BNDES, 2014. Disponível em: https://www.abragames.org/uploads/5/6/8/0/56805537/mapeamento_da_industria_brasileira_e_global_de_jogos_digitais_1.pdf. Acesso em: 10 maio 2026.</a:t>
            </a:r>
          </a:p>
          <a:p>
            <a:endParaRPr lang="pt-BR" sz="3430" dirty="0"/>
          </a:p>
          <a:p>
            <a:pPr lvl="0" algn="just">
              <a:lnSpc>
                <a:spcPct val="140000"/>
              </a:lnSpc>
            </a:pPr>
            <a:endParaRPr lang="pt-BR" sz="36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" name="Google Shape;135;p1"/>
          <p:cNvSpPr txBox="1"/>
          <p:nvPr/>
        </p:nvSpPr>
        <p:spPr>
          <a:xfrm>
            <a:off x="1595875" y="31719850"/>
            <a:ext cx="12562800" cy="591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430" b="1" dirty="0" err="1">
                <a:latin typeface="Open Sans"/>
                <a:ea typeface="Open Sans"/>
                <a:cs typeface="Open Sans"/>
                <a:sym typeface="Open Sans"/>
              </a:rPr>
              <a:t>Linguagem</a:t>
            </a:r>
            <a:r>
              <a:rPr lang="en-US" sz="3430" b="1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b="1" dirty="0" err="1">
                <a:latin typeface="Open Sans"/>
                <a:ea typeface="Open Sans"/>
                <a:cs typeface="Open Sans"/>
                <a:sym typeface="Open Sans"/>
              </a:rPr>
              <a:t>Programação</a:t>
            </a:r>
            <a:r>
              <a:rPr lang="en-US" sz="3430" b="1" dirty="0"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C# (.NET) .</a:t>
            </a:r>
          </a:p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430" b="1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b="1" dirty="0" err="1">
                <a:latin typeface="Open Sans"/>
                <a:ea typeface="Open Sans"/>
                <a:cs typeface="Open Sans"/>
                <a:sym typeface="Open Sans"/>
              </a:rPr>
              <a:t>Gráfica</a:t>
            </a:r>
            <a:r>
              <a:rPr lang="en-US" sz="3430" b="1" dirty="0"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WinForms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ou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WPF para 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criação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da interface desktop.</a:t>
            </a:r>
          </a:p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430" b="1" dirty="0">
                <a:latin typeface="Open Sans"/>
                <a:ea typeface="Open Sans"/>
                <a:cs typeface="Open Sans"/>
                <a:sym typeface="Open Sans"/>
              </a:rPr>
              <a:t>Banco de Dados: 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SQLite para 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persistência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local 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segura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dos dados.</a:t>
            </a:r>
          </a:p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430" b="1" dirty="0" err="1">
                <a:latin typeface="Open Sans"/>
                <a:ea typeface="Open Sans"/>
                <a:cs typeface="Open Sans"/>
                <a:sym typeface="Open Sans"/>
              </a:rPr>
              <a:t>Arquitetura</a:t>
            </a:r>
            <a:r>
              <a:rPr lang="en-US" sz="3430" b="1" dirty="0"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ADO.NET para 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comunicação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aplicação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com o banco de dados .</a:t>
            </a:r>
          </a:p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430" b="1" dirty="0" err="1">
                <a:latin typeface="Open Sans"/>
                <a:ea typeface="Open Sans"/>
                <a:cs typeface="Open Sans"/>
                <a:sym typeface="Open Sans"/>
              </a:rPr>
              <a:t>Modelagem</a:t>
            </a:r>
            <a:r>
              <a:rPr lang="en-US" sz="3430" b="1" dirty="0"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Figma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ou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Draw.io para design de interface.</a:t>
            </a:r>
          </a:p>
        </p:txBody>
      </p:sp>
      <p:sp>
        <p:nvSpPr>
          <p:cNvPr id="136" name="Google Shape;136;p1"/>
          <p:cNvSpPr txBox="1"/>
          <p:nvPr/>
        </p:nvSpPr>
        <p:spPr>
          <a:xfrm>
            <a:off x="1595875" y="10937869"/>
            <a:ext cx="12562800" cy="9169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</a:pP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   A Messier Data Creative é uma empresa especializada em desenvolvimento de jogos e experiências interativa e está expandindo sua atuação para o mercado educacional com uma plataforma de jogos digitais voltada para escolas de ensino fundamental e médio</a:t>
            </a:r>
          </a:p>
          <a:p>
            <a:pPr lvl="0" algn="just">
              <a:lnSpc>
                <a:spcPct val="140000"/>
              </a:lnSpc>
            </a:pPr>
            <a:endParaRPr lang="pt-BR" sz="3430" dirty="0">
              <a:latin typeface="Open Sans"/>
              <a:ea typeface="Open Sans"/>
              <a:cs typeface="Open Sans"/>
              <a:sym typeface="Open Sans"/>
            </a:endParaRPr>
          </a:p>
          <a:p>
            <a:pPr lvl="0" algn="just">
              <a:lnSpc>
                <a:spcPct val="140000"/>
              </a:lnSpc>
            </a:pP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   Para isso é preciso desenvolver um aplicativo desktop que centralize a gestão de assinaturas de jogos educacionais por escolas, controlando pacotes contratados, validação por IP autorizado, limites de acessos mensais e geração de relatórios de consumo</a:t>
            </a:r>
          </a:p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1570066" y="21125709"/>
            <a:ext cx="12562800" cy="8999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1" algn="just"/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 proposta terá como objetivo a implementação de um aplicativo desktop que irá gerenciar as ferramentas educacionais, garantindo desempenho, segurança e estabilidade no ambiente escolar.</a:t>
            </a:r>
          </a:p>
          <a:p>
            <a:pPr lvl="1" algn="just"/>
            <a:endParaRPr lang="pt-BR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 algn="just"/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 sistema incluirá controle de acesso por validação de IP, além da gestão de limites em tempo real, monitorando as cotas mensais restantes de acessos. Contará com bloqueio automático quando a franquia contratada for atingida, informando as instituições para auxiliar no acompanhamento e administração do seu consumo.</a:t>
            </a:r>
          </a:p>
          <a:p>
            <a:pPr lvl="1" algn="just"/>
            <a:endParaRPr lang="pt-BR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 algn="just"/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  Outro diferencial será a geração de relatórios detalhados sobre o uso da plataforma, fornecendo uma visão mais clara do engajamento dos alunos e identificando jogos e recursos com maior impacto pedagógico.</a:t>
            </a:r>
          </a:p>
          <a:p>
            <a:endParaRPr lang="pt-BR" sz="3600" dirty="0"/>
          </a:p>
        </p:txBody>
      </p:sp>
      <p:sp>
        <p:nvSpPr>
          <p:cNvPr id="138" name="Google Shape;138;p1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 b="1">
                <a:latin typeface="Open Sans"/>
                <a:ea typeface="Open Sans"/>
                <a:cs typeface="Open Sans"/>
                <a:sym typeface="Open Sans"/>
              </a:rPr>
              <a:t>IV </a:t>
            </a:r>
            <a:r>
              <a:rPr lang="en-US" sz="4955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SEMANA FECAP DE TECNOLOGIA - 2026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/>
          </a:p>
        </p:txBody>
      </p:sp>
      <p:sp>
        <p:nvSpPr>
          <p:cNvPr id="139" name="Google Shape;139;p1"/>
          <p:cNvSpPr txBox="1"/>
          <p:nvPr/>
        </p:nvSpPr>
        <p:spPr>
          <a:xfrm>
            <a:off x="15617816" y="10880630"/>
            <a:ext cx="11904157" cy="18776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  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implementação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do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aplicativo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desktop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consolidou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viabilidade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técnica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plataforma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MessierApp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proporcionando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uma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experiência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mais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fluída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para as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instiuições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Ensino.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Destaque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dos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resultados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obtidos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:</a:t>
            </a:r>
          </a:p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430" b="1" dirty="0">
                <a:latin typeface="Open Sans"/>
                <a:ea typeface="Open Sans"/>
                <a:cs typeface="Open Sans"/>
                <a:sym typeface="Open Sans"/>
              </a:rPr>
              <a:t>Controle de </a:t>
            </a:r>
            <a:r>
              <a:rPr lang="en-US" sz="3430" b="1" dirty="0" err="1">
                <a:latin typeface="Open Sans"/>
                <a:ea typeface="Open Sans"/>
                <a:cs typeface="Open Sans"/>
                <a:sym typeface="Open Sans"/>
              </a:rPr>
              <a:t>acesso</a:t>
            </a:r>
            <a:r>
              <a:rPr lang="en-US" sz="3430" b="1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b="1" dirty="0" err="1">
                <a:latin typeface="Open Sans"/>
                <a:ea typeface="Open Sans"/>
                <a:cs typeface="Open Sans"/>
                <a:sym typeface="Open Sans"/>
              </a:rPr>
              <a:t>eficiente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Através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do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recurso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validação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IP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ele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irá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controlar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gerenciar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acessos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aplicativo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desktop</a:t>
            </a:r>
          </a:p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430" b="1" dirty="0" err="1">
                <a:latin typeface="Open Sans"/>
                <a:ea typeface="Open Sans"/>
                <a:cs typeface="Open Sans"/>
                <a:sym typeface="Open Sans"/>
              </a:rPr>
              <a:t>Gestão</a:t>
            </a:r>
            <a:r>
              <a:rPr lang="en-US" sz="3430" b="1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b="1" dirty="0" err="1">
                <a:latin typeface="Open Sans"/>
                <a:ea typeface="Open Sans"/>
                <a:cs typeface="Open Sans"/>
                <a:sym typeface="Open Sans"/>
              </a:rPr>
              <a:t>limites</a:t>
            </a:r>
            <a:r>
              <a:rPr lang="en-US" sz="3430" b="1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b="1" dirty="0" err="1">
                <a:latin typeface="Open Sans"/>
                <a:ea typeface="Open Sans"/>
                <a:cs typeface="Open Sans"/>
                <a:sym typeface="Open Sans"/>
              </a:rPr>
              <a:t>em</a:t>
            </a:r>
            <a:r>
              <a:rPr lang="en-US" sz="3430" b="1" dirty="0">
                <a:latin typeface="Open Sans"/>
                <a:ea typeface="Open Sans"/>
                <a:cs typeface="Open Sans"/>
                <a:sym typeface="Open Sans"/>
              </a:rPr>
              <a:t> tempo real: 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O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monitoramento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cotas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mensais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permitiu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o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bloqueio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automático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inteligente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, com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notificações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preventivas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antes do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esgotamento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franquia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acessos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430" b="1" dirty="0" err="1">
                <a:latin typeface="Open Sans"/>
                <a:ea typeface="Open Sans"/>
                <a:cs typeface="Open Sans"/>
                <a:sym typeface="Open Sans"/>
              </a:rPr>
              <a:t>Segurança</a:t>
            </a:r>
            <a:r>
              <a:rPr lang="en-US" sz="3430" b="1" dirty="0">
                <a:latin typeface="Open Sans"/>
                <a:ea typeface="Open Sans"/>
                <a:cs typeface="Open Sans"/>
                <a:sym typeface="Open Sans"/>
              </a:rPr>
              <a:t> e </a:t>
            </a:r>
            <a:r>
              <a:rPr lang="en-US" sz="3430" b="1" dirty="0" err="1">
                <a:latin typeface="Open Sans"/>
                <a:ea typeface="Open Sans"/>
                <a:cs typeface="Open Sans"/>
                <a:sym typeface="Open Sans"/>
              </a:rPr>
              <a:t>persistência</a:t>
            </a:r>
            <a:r>
              <a:rPr lang="en-US" sz="3430" b="1" dirty="0"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O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uso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do banco de dados SQLite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assegurou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integridade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das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informações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uso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localmente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mesmo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em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cenários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instabilidade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 de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conexão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internet.</a:t>
            </a:r>
          </a:p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430" b="1" dirty="0" err="1">
                <a:latin typeface="Open Sans"/>
                <a:ea typeface="Open Sans"/>
                <a:cs typeface="Open Sans"/>
                <a:sym typeface="Open Sans"/>
              </a:rPr>
              <a:t>Inteligência</a:t>
            </a:r>
            <a:r>
              <a:rPr lang="en-US" sz="3430" b="1" dirty="0">
                <a:latin typeface="Open Sans"/>
                <a:ea typeface="Open Sans"/>
                <a:cs typeface="Open Sans"/>
                <a:sym typeface="Open Sans"/>
              </a:rPr>
              <a:t> de dados: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Geração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relatórios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detalhados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ofereceu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as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instituições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escolares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uma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visão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mais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clara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do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engajamento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dos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alunos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identificando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jogos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maior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impacto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pedagógico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3430" dirty="0">
              <a:latin typeface="Open Sans"/>
              <a:ea typeface="Open Sans"/>
              <a:cs typeface="Open Sans"/>
              <a:sym typeface="Open Sans"/>
            </a:endParaRPr>
          </a:p>
          <a:p>
            <a:pPr marR="0" lvl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  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solução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não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apenas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resolveu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vulnerabilidade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segurança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e 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falta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de dados, mas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também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estabeleceu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uma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infraestrutura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escalável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para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expansões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futuras</a:t>
            </a: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 no mercado educational.</a:t>
            </a:r>
          </a:p>
          <a:p>
            <a:pPr marL="285750" marR="0" lvl="0" indent="-28575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2756</TotalTime>
  <Words>615</Words>
  <Application>Microsoft Office PowerPoint</Application>
  <PresentationFormat>Personalizar</PresentationFormat>
  <Paragraphs>35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Open Sans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Andre Seiji Shiroma</dc:creator>
  <cp:lastModifiedBy>André   Seiji Shiroma</cp:lastModifiedBy>
  <cp:revision>3</cp:revision>
  <dcterms:created xsi:type="dcterms:W3CDTF">2006-08-16T00:00:00Z</dcterms:created>
  <dcterms:modified xsi:type="dcterms:W3CDTF">2026-05-13T20:58:31Z</dcterms:modified>
</cp:coreProperties>
</file>